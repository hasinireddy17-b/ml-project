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handoutMasterIdLst>
    <p:handoutMasterId r:id="rId17"/>
  </p:handoutMasterIdLst>
  <p:sldIdLst>
    <p:sldId id="256" r:id="rId3"/>
    <p:sldId id="257" r:id="rId4"/>
    <p:sldId id="264" r:id="rId5"/>
    <p:sldId id="258" r:id="rId6"/>
    <p:sldId id="261" r:id="rId7"/>
    <p:sldId id="265" r:id="rId8"/>
    <p:sldId id="259" r:id="rId9"/>
    <p:sldId id="270" r:id="rId10"/>
    <p:sldId id="267" r:id="rId11"/>
    <p:sldId id="266" r:id="rId12"/>
    <p:sldId id="260" r:id="rId13"/>
    <p:sldId id="262" r:id="rId14"/>
    <p:sldId id="26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3" d="100"/>
          <a:sy n="83" d="100"/>
        </p:scale>
        <p:origin x="61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handoutMaster" Target="handoutMasters/handoutMaster1.xml"/><Relationship Id="rId16" Type="http://schemas.openxmlformats.org/officeDocument/2006/relationships/notesMaster" Target="notesMasters/notesMaster1.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2">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png"/><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118" y="559145"/>
            <a:ext cx="9144000" cy="2316702"/>
          </a:xfrm>
        </p:spPr>
        <p:txBody>
          <a:bodyPr/>
          <a:lstStyle/>
          <a:p>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sz="4000" b="1" dirty="0">
                <a:solidFill>
                  <a:srgbClr val="C00000"/>
                </a:solidFill>
                <a:latin typeface="+mn-lt"/>
              </a:rPr>
            </a:br>
            <a:r>
              <a:rPr lang="en-US" altLang="en-US" sz="4000" b="1" dirty="0" smtClean="0">
                <a:solidFill>
                  <a:srgbClr val="C00000"/>
                </a:solidFill>
                <a:latin typeface="+mn-lt"/>
              </a:rPr>
              <a:t>	MACHINE LEARNING</a:t>
            </a:r>
            <a:r>
              <a:rPr lang="en-US" sz="4000" b="1" dirty="0" smtClean="0">
                <a:solidFill>
                  <a:srgbClr val="C00000"/>
                </a:solidFill>
                <a:latin typeface="+mn-lt"/>
              </a:rPr>
              <a:t> (</a:t>
            </a:r>
            <a:r>
              <a:rPr lang="en-US" altLang="en-US" sz="4000" b="1" dirty="0" smtClean="0">
                <a:solidFill>
                  <a:srgbClr val="C00000"/>
                </a:solidFill>
                <a:latin typeface="+mn-lt"/>
                <a:sym typeface="+mn-ea"/>
              </a:rPr>
              <a:t>25SC2107E</a:t>
            </a:r>
            <a:r>
              <a:rPr lang="en-US" sz="4000" b="1" dirty="0" smtClean="0">
                <a:solidFill>
                  <a:srgbClr val="C00000"/>
                </a:solidFill>
                <a:latin typeface="+mn-lt"/>
              </a:rPr>
              <a:t>)</a:t>
            </a:r>
            <a:br>
              <a:rPr lang="en-US" sz="4000" b="1" dirty="0">
                <a:solidFill>
                  <a:srgbClr val="C00000"/>
                </a:solidFill>
                <a:latin typeface="+mn-lt"/>
              </a:rPr>
            </a:br>
            <a:br>
              <a:rPr lang="en-US" sz="4000" b="1" dirty="0">
                <a:solidFill>
                  <a:srgbClr val="C00000"/>
                </a:solidFill>
                <a:latin typeface="+mn-lt"/>
              </a:rPr>
            </a:br>
            <a:r>
              <a:rPr lang="en-US" altLang="en-US" sz="2800" b="1" dirty="0">
                <a:solidFill>
                  <a:srgbClr val="C00000"/>
                </a:solidFill>
                <a:latin typeface="+mn-lt"/>
              </a:rPr>
              <a:t>Job Recommendation and Candidate Matching Using Content-Based Filtering and Cosine Similarity</a:t>
            </a:r>
            <a:endParaRPr lang="en-US" altLang="en-US" sz="2800" b="1" dirty="0">
              <a:solidFill>
                <a:srgbClr val="C00000"/>
              </a:solidFill>
              <a:latin typeface="+mn-lt"/>
            </a:endParaRPr>
          </a:p>
        </p:txBody>
      </p:sp>
      <p:sp>
        <p:nvSpPr>
          <p:cNvPr id="3" name="Subtitle 2"/>
          <p:cNvSpPr>
            <a:spLocks noGrp="1"/>
          </p:cNvSpPr>
          <p:nvPr>
            <p:ph type="subTitle" idx="1"/>
          </p:nvPr>
        </p:nvSpPr>
        <p:spPr>
          <a:xfrm>
            <a:off x="3819945" y="3304609"/>
            <a:ext cx="4551284" cy="1396014"/>
          </a:xfrm>
        </p:spPr>
        <p:txBody>
          <a:bodyPr/>
          <a:lstStyle/>
          <a:p>
            <a:pPr algn="ctr"/>
            <a:r>
              <a:rPr lang="en-US" dirty="0">
                <a:solidFill>
                  <a:srgbClr val="0070C0"/>
                </a:solidFill>
              </a:rPr>
              <a:t>Team Members</a:t>
            </a:r>
            <a:endParaRPr lang="en-US" dirty="0">
              <a:solidFill>
                <a:srgbClr val="0070C0"/>
              </a:solidFill>
            </a:endParaRPr>
          </a:p>
          <a:p>
            <a:pPr algn="ctr"/>
            <a:r>
              <a:rPr lang="en-US" dirty="0">
                <a:solidFill>
                  <a:srgbClr val="0070C0"/>
                </a:solidFill>
              </a:rPr>
              <a:t>B.Sai Sri Hasini - 2520030116</a:t>
            </a:r>
            <a:endParaRPr lang="en-US" dirty="0">
              <a:solidFill>
                <a:srgbClr val="0070C0"/>
              </a:solidFill>
            </a:endParaRPr>
          </a:p>
          <a:p>
            <a:pPr algn="ctr"/>
            <a:r>
              <a:rPr lang="en-US" dirty="0">
                <a:solidFill>
                  <a:srgbClr val="0070C0"/>
                </a:solidFill>
              </a:rPr>
              <a:t>     P. Dhanasri   - 2520030115</a:t>
            </a:r>
            <a:endParaRPr lang="en-US" dirty="0">
              <a:solidFill>
                <a:srgbClr val="0070C0"/>
              </a:solidFill>
            </a:endParaRPr>
          </a:p>
          <a:p>
            <a:pPr marL="171450" algn="ctr">
              <a:lnSpc>
                <a:spcPct val="107000"/>
              </a:lnSpc>
              <a:spcAft>
                <a:spcPts val="800"/>
              </a:spcAft>
            </a:pPr>
            <a:endPar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endParaRPr>
          </a:p>
          <a:p>
            <a:pPr marL="171450" algn="ctr">
              <a:lnSpc>
                <a:spcPct val="107000"/>
              </a:lnSpc>
              <a:spcAft>
                <a:spcPts val="800"/>
              </a:spcAft>
            </a:pPr>
            <a:r>
              <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Under the Esteemed Guidance of</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pPr algn="ctr">
              <a:lnSpc>
                <a:spcPct val="107000"/>
              </a:lnSpc>
              <a:spcAft>
                <a:spcPts val="800"/>
              </a:spcAft>
            </a:pPr>
            <a:r>
              <a:rPr lang="en-US" sz="1800" b="1"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Shaik Asif Sir </a:t>
            </a:r>
            <a:endParaRPr lang="en-US" sz="1800" b="1"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endParaRPr>
          </a:p>
          <a:p>
            <a:pPr algn="ctr">
              <a:lnSpc>
                <a:spcPct val="107000"/>
              </a:lnSpc>
              <a:spcAft>
                <a:spcPts val="800"/>
              </a:spcAft>
            </a:pPr>
            <a:r>
              <a:rPr lang="en-US" sz="1800" b="1"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CSE  </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endParaRPr lang="en-US" dirty="0">
              <a:solidFill>
                <a:srgbClr val="0070C0"/>
              </a:solidFill>
            </a:endParaRPr>
          </a:p>
          <a:p>
            <a:endParaRPr lang="en-US"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3736109" y="806448"/>
            <a:ext cx="3519170" cy="5544820"/>
          </a:xfrm>
          <a:prstGeom prst="rect">
            <a:avLst/>
          </a:prstGeom>
          <a:noFill/>
        </p:spPr>
        <p:txBody>
          <a:bodyPr wrap="none" rtlCol="0">
            <a:spAutoFit/>
          </a:bodyPr>
          <a:lstStyle/>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2800" b="0" i="0" u="none" strike="noStrike" kern="1200" dirty="0">
                <a:solidFill>
                  <a:srgbClr val="000000"/>
                </a:solidFill>
                <a:effectLst/>
                <a:latin typeface="Calibri" panose="020F0502020204030204" pitchFamily="34" charset="0"/>
              </a:rPr>
              <a:t>Abstract</a:t>
            </a:r>
            <a:endParaRPr lang="en-US" sz="2800" b="0" i="0" u="none" strike="noStrike" kern="1200" dirty="0">
              <a:solidFill>
                <a:srgbClr val="000000"/>
              </a:solidFill>
              <a:effectLst/>
              <a:latin typeface="Calibri" panose="020F050202020403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28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Problem Statement </a:t>
            </a:r>
            <a:endParaRPr lang="en-US" sz="28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28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Objectives</a:t>
            </a:r>
            <a:endParaRPr lang="en-IN" sz="28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altLang="en-IN" sz="2600" b="0" i="0" u="none" strike="noStrike" dirty="0">
                <a:effectLst/>
                <a:latin typeface="Arial" panose="020B0604020202020204" pitchFamily="34" charset="0"/>
              </a:rPr>
              <a:t>Dataset</a:t>
            </a:r>
            <a:endParaRPr lang="en-US" altLang="en-IN" sz="26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altLang="en-IN" sz="2400" b="0" i="0" u="none" strike="noStrike" dirty="0">
                <a:effectLst/>
                <a:latin typeface="Arial" panose="020B0604020202020204" pitchFamily="34" charset="0"/>
              </a:rPr>
              <a:t>EDA</a:t>
            </a:r>
            <a:endParaRPr lang="en-US" altLang="en-IN" sz="24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altLang="en-US" sz="2600" b="0" i="0" u="none" strike="noStrike" dirty="0">
                <a:effectLst/>
                <a:latin typeface="Arial" panose="020B0604020202020204" pitchFamily="34" charset="0"/>
              </a:rPr>
              <a:t>Methodology</a:t>
            </a:r>
            <a:endParaRPr lang="en-IN" sz="26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28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Results</a:t>
            </a:r>
            <a:endParaRPr lang="en-IN" sz="28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28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Conclusion </a:t>
            </a:r>
            <a:endParaRPr lang="en-US" sz="28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28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Future Scope </a:t>
            </a:r>
            <a:endParaRPr lang="en-IN" sz="2800" b="0" i="0" u="none" strike="noStrike" dirty="0">
              <a:effectLst/>
              <a:latin typeface="Arial" panose="020B0604020202020204" pitchFamily="34" charset="0"/>
            </a:endParaRPr>
          </a:p>
          <a:p>
            <a:endParaRPr lang="en-IN" sz="2800" dirty="0"/>
          </a:p>
        </p:txBody>
      </p:sp>
      <p:sp>
        <p:nvSpPr>
          <p:cNvPr id="8" name="Rectangle: Rounded Corners 7"/>
          <p:cNvSpPr/>
          <p:nvPr>
            <p:custDataLst>
              <p:tags r:id="rId1"/>
            </p:custDataLst>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custDataLst>
              <p:tags r:id="rId2"/>
            </p:custDataLst>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endParaRPr lang="en-US" sz="3200" b="1" dirty="0">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endParaRPr lang="en-US" sz="3200" b="1" dirty="0">
              <a:solidFill>
                <a:schemeClr val="bg1"/>
              </a:solidFill>
            </a:endParaRPr>
          </a:p>
        </p:txBody>
      </p:sp>
      <p:sp>
        <p:nvSpPr>
          <p:cNvPr id="4" name="Text Box 3"/>
          <p:cNvSpPr txBox="1"/>
          <p:nvPr/>
        </p:nvSpPr>
        <p:spPr>
          <a:xfrm>
            <a:off x="1731010" y="1329055"/>
            <a:ext cx="9809480" cy="3597275"/>
          </a:xfrm>
          <a:prstGeom prst="rect">
            <a:avLst/>
          </a:prstGeom>
        </p:spPr>
        <p:txBody>
          <a:bodyPr wrap="square">
            <a:noAutofit/>
          </a:bodyPr>
          <a:p>
            <a:pPr marL="228600" indent="0" defTabSz="266700">
              <a:lnSpc>
                <a:spcPct val="107000"/>
              </a:lnSpc>
              <a:spcAft>
                <a:spcPts val="700"/>
              </a:spcAft>
            </a:pPr>
            <a:r>
              <a:rPr sz="2400">
                <a:solidFill>
                  <a:srgbClr val="000000"/>
                </a:solidFill>
                <a:latin typeface="Times New Roman" panose="02020603050405020304"/>
                <a:ea typeface="Calibri" panose="020F0502020204030204"/>
              </a:rPr>
              <a:t>Modern job portals host thousands of job postings every day, making it difficult for applicants to manually browse and identify opportunities that match their skills, qualifications, and preferred locations. Traditional keyword-based search methods often return irrelevant or incomplete results, requiring users to spend significant time filtering listings. This project proposes an intelligent job recommendation portal that combines machine learning techniques with efficient data structures to deliver fast, accurate, and personalized job recommendations. The system analyzes user profiles, including skills, education, experience, and location preferences, and compares them with job descriptions to identify the most suitable opportunities.</a:t>
            </a:r>
            <a:endParaRPr sz="2400">
              <a:solidFill>
                <a:srgbClr val="000000"/>
              </a:solidFill>
              <a:latin typeface="Times New Roman" panose="02020603050405020304"/>
              <a:ea typeface="Calibri" panose="020F050202020403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3565"/>
          </a:xfrm>
          <a:prstGeom prst="rect">
            <a:avLst/>
          </a:prstGeom>
          <a:noFill/>
        </p:spPr>
        <p:txBody>
          <a:bodyPr wrap="square" rtlCol="0">
            <a:spAutoFit/>
          </a:bodyPr>
          <a:lstStyle/>
          <a:p>
            <a:pPr algn="ctr"/>
            <a:r>
              <a:rPr lang="en-US" sz="3200" b="1" dirty="0">
                <a:solidFill>
                  <a:schemeClr val="bg1"/>
                </a:solidFill>
              </a:rPr>
              <a:t>Problem Statement</a:t>
            </a:r>
            <a:endParaRPr lang="en-US" sz="3200" b="1" dirty="0">
              <a:solidFill>
                <a:schemeClr val="bg1"/>
              </a:solidFill>
            </a:endParaRPr>
          </a:p>
        </p:txBody>
      </p:sp>
      <p:sp>
        <p:nvSpPr>
          <p:cNvPr id="4" name="Text Box 3"/>
          <p:cNvSpPr txBox="1"/>
          <p:nvPr/>
        </p:nvSpPr>
        <p:spPr>
          <a:xfrm>
            <a:off x="2307590" y="1362075"/>
            <a:ext cx="8940165" cy="4213860"/>
          </a:xfrm>
          <a:prstGeom prst="rect">
            <a:avLst/>
          </a:prstGeom>
        </p:spPr>
        <p:txBody>
          <a:bodyPr wrap="square">
            <a:noAutofit/>
          </a:bodyPr>
          <a:p>
            <a:r>
              <a:rPr sz="2400"/>
              <a:t>Online job portals contain thousands of job postings, making it difficult for candidates to manually search and identify opportunities that match their skills, qualifications, experience, and preferences. Traditional keyword-based search methods may return irrelevant results because they mainly depend on exact keyword matches. Our project addresses this problem by comparing candidate profiles with job descriptions and identifying the most relevant opportunities using Content-Based Filtering and Cosine Similarity. The system calculates similarity scores and ranks the available jobs so that candidates can find suitable opportunities more efficiently.</a:t>
            </a:r>
            <a:endParaRPr sz="24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3565"/>
          </a:xfrm>
          <a:prstGeom prst="rect">
            <a:avLst/>
          </a:prstGeom>
          <a:noFill/>
        </p:spPr>
        <p:txBody>
          <a:bodyPr wrap="square" rtlCol="0">
            <a:spAutoFit/>
          </a:bodyPr>
          <a:lstStyle/>
          <a:p>
            <a:pPr algn="ctr"/>
            <a:r>
              <a:rPr lang="en-US" sz="3200" b="1" dirty="0">
                <a:solidFill>
                  <a:schemeClr val="bg1"/>
                </a:solidFill>
              </a:rPr>
              <a:t>Objectives</a:t>
            </a:r>
            <a:endParaRPr lang="en-US" sz="3200" b="1" dirty="0">
              <a:solidFill>
                <a:schemeClr val="bg1"/>
              </a:solidFill>
            </a:endParaRPr>
          </a:p>
        </p:txBody>
      </p:sp>
      <p:sp>
        <p:nvSpPr>
          <p:cNvPr id="4" name="Text Box 3"/>
          <p:cNvSpPr txBox="1"/>
          <p:nvPr/>
        </p:nvSpPr>
        <p:spPr>
          <a:xfrm>
            <a:off x="2273935" y="1300480"/>
            <a:ext cx="8514080" cy="4143375"/>
          </a:xfrm>
          <a:prstGeom prst="rect">
            <a:avLst/>
          </a:prstGeom>
        </p:spPr>
        <p:txBody>
          <a:bodyPr wrap="square">
            <a:noAutofit/>
          </a:bodyPr>
          <a:p>
            <a:r>
              <a:rPr sz="2400"/>
              <a:t>The main objective of this project is to develop a job recommendation system that can provide relevant job opportunities based on a candidate's profile. The system aims to match candidate skills and qualifications with the requirements mentioned in job descriptions. It also reduces the time and effort involved in manually searching through a large number of job postings. By calculating similarity scores between candidate profiles and jobs, the system ranks the available opportunities and presents the most relevant jobs first. This provides a more personalized and efficient job-search experience.</a:t>
            </a:r>
            <a:endParaRPr sz="24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3565"/>
          </a:xfrm>
          <a:prstGeom prst="rect">
            <a:avLst/>
          </a:prstGeom>
          <a:noFill/>
        </p:spPr>
        <p:txBody>
          <a:bodyPr wrap="square" rtlCol="0">
            <a:spAutoFit/>
          </a:bodyPr>
          <a:lstStyle/>
          <a:p>
            <a:pPr algn="ctr"/>
            <a:r>
              <a:rPr lang="en-US" sz="3200" b="1" dirty="0">
                <a:solidFill>
                  <a:schemeClr val="bg1"/>
                </a:solidFill>
              </a:rPr>
              <a:t>Dataset</a:t>
            </a:r>
            <a:endParaRPr lang="en-US" sz="3200" b="1" dirty="0">
              <a:solidFill>
                <a:schemeClr val="bg1"/>
              </a:solidFill>
            </a:endParaRPr>
          </a:p>
        </p:txBody>
      </p:sp>
      <p:graphicFrame>
        <p:nvGraphicFramePr>
          <p:cNvPr id="5" name="Table 4"/>
          <p:cNvGraphicFramePr/>
          <p:nvPr>
            <p:custDataLst>
              <p:tags r:id="rId1"/>
            </p:custDataLst>
          </p:nvPr>
        </p:nvGraphicFramePr>
        <p:xfrm>
          <a:off x="3374390" y="2992120"/>
          <a:ext cx="5772150" cy="2926080"/>
        </p:xfrm>
        <a:graphic>
          <a:graphicData uri="http://schemas.openxmlformats.org/drawingml/2006/table">
            <a:tbl>
              <a:tblPr/>
              <a:tblGrid>
                <a:gridCol w="2886075"/>
                <a:gridCol w="2886075"/>
              </a:tblGrid>
              <a:tr h="487680">
                <a:tc>
                  <a:txBody>
                    <a:bodyPr/>
                    <a:p>
                      <a:r>
                        <a:rPr sz="1600" b="1"/>
                        <a:t>Column</a:t>
                      </a:r>
                      <a:endParaRPr sz="1600" b="1"/>
                    </a:p>
                  </a:txBody>
                  <a:tcPr marL="0" marR="0" marT="0" marB="0" anchor="ctr" anchorCtr="0">
                    <a:lnL>
                      <a:noFill/>
                    </a:lnL>
                    <a:lnR>
                      <a:noFill/>
                    </a:lnR>
                    <a:lnT>
                      <a:noFill/>
                    </a:lnT>
                    <a:lnB>
                      <a:noFill/>
                    </a:lnB>
                    <a:noFill/>
                  </a:tcPr>
                </a:tc>
                <a:tc>
                  <a:txBody>
                    <a:bodyPr/>
                    <a:p>
                      <a:r>
                        <a:rPr sz="1600" b="1"/>
                        <a:t>Description</a:t>
                      </a:r>
                      <a:endParaRPr sz="1600" b="1"/>
                    </a:p>
                  </a:txBody>
                  <a:tcPr marL="0" marR="0" marT="0" marB="0" anchor="ctr" anchorCtr="0">
                    <a:lnL>
                      <a:noFill/>
                    </a:lnL>
                    <a:lnR>
                      <a:noFill/>
                    </a:lnR>
                    <a:lnT>
                      <a:noFill/>
                    </a:lnT>
                    <a:lnB>
                      <a:noFill/>
                    </a:lnB>
                    <a:noFill/>
                  </a:tcPr>
                </a:tc>
              </a:tr>
              <a:tr h="487680">
                <a:tc>
                  <a:txBody>
                    <a:bodyPr/>
                    <a:p>
                      <a:r>
                        <a:rPr sz="1600"/>
                        <a:t>job_id</a:t>
                      </a:r>
                      <a:endParaRPr sz="1600"/>
                    </a:p>
                  </a:txBody>
                  <a:tcPr marL="0" marR="0" marT="0" marB="0" anchor="ctr" anchorCtr="0">
                    <a:lnL>
                      <a:noFill/>
                    </a:lnL>
                    <a:lnR>
                      <a:noFill/>
                    </a:lnR>
                    <a:lnT>
                      <a:noFill/>
                    </a:lnT>
                    <a:lnB>
                      <a:noFill/>
                    </a:lnB>
                    <a:noFill/>
                  </a:tcPr>
                </a:tc>
                <a:tc>
                  <a:txBody>
                    <a:bodyPr/>
                    <a:p>
                      <a:r>
                        <a:rPr sz="1600"/>
                        <a:t>Unique identifier for each job</a:t>
                      </a:r>
                      <a:endParaRPr sz="1600"/>
                    </a:p>
                  </a:txBody>
                  <a:tcPr marL="0" marR="0" marT="0" marB="0" anchor="ctr" anchorCtr="0">
                    <a:lnL>
                      <a:noFill/>
                    </a:lnL>
                    <a:lnR>
                      <a:noFill/>
                    </a:lnR>
                    <a:lnT>
                      <a:noFill/>
                    </a:lnT>
                    <a:lnB>
                      <a:noFill/>
                    </a:lnB>
                    <a:noFill/>
                  </a:tcPr>
                </a:tc>
              </a:tr>
              <a:tr h="487680">
                <a:tc>
                  <a:txBody>
                    <a:bodyPr/>
                    <a:p>
                      <a:r>
                        <a:rPr sz="1600"/>
                        <a:t>category</a:t>
                      </a:r>
                      <a:endParaRPr sz="1600"/>
                    </a:p>
                  </a:txBody>
                  <a:tcPr marL="0" marR="0" marT="0" marB="0" anchor="ctr" anchorCtr="0">
                    <a:lnL>
                      <a:noFill/>
                    </a:lnL>
                    <a:lnR>
                      <a:noFill/>
                    </a:lnR>
                    <a:lnT>
                      <a:noFill/>
                    </a:lnT>
                    <a:lnB>
                      <a:noFill/>
                    </a:lnB>
                    <a:noFill/>
                  </a:tcPr>
                </a:tc>
                <a:tc>
                  <a:txBody>
                    <a:bodyPr/>
                    <a:p>
                      <a:r>
                        <a:rPr sz="1600"/>
                        <a:t>Category/type of the job</a:t>
                      </a:r>
                      <a:endParaRPr sz="1600"/>
                    </a:p>
                  </a:txBody>
                  <a:tcPr marL="0" marR="0" marT="0" marB="0" anchor="ctr" anchorCtr="0">
                    <a:lnL>
                      <a:noFill/>
                    </a:lnL>
                    <a:lnR>
                      <a:noFill/>
                    </a:lnR>
                    <a:lnT>
                      <a:noFill/>
                    </a:lnT>
                    <a:lnB>
                      <a:noFill/>
                    </a:lnB>
                    <a:noFill/>
                  </a:tcPr>
                </a:tc>
              </a:tr>
              <a:tr h="487680">
                <a:tc>
                  <a:txBody>
                    <a:bodyPr/>
                    <a:p>
                      <a:r>
                        <a:rPr sz="1600"/>
                        <a:t>job_title</a:t>
                      </a:r>
                      <a:endParaRPr sz="1600"/>
                    </a:p>
                  </a:txBody>
                  <a:tcPr marL="0" marR="0" marT="0" marB="0" anchor="ctr" anchorCtr="0">
                    <a:lnL>
                      <a:noFill/>
                    </a:lnL>
                    <a:lnR>
                      <a:noFill/>
                    </a:lnR>
                    <a:lnT>
                      <a:noFill/>
                    </a:lnT>
                    <a:lnB>
                      <a:noFill/>
                    </a:lnB>
                    <a:noFill/>
                  </a:tcPr>
                </a:tc>
                <a:tc>
                  <a:txBody>
                    <a:bodyPr/>
                    <a:p>
                      <a:r>
                        <a:rPr sz="1600"/>
                        <a:t>Title or position of the job</a:t>
                      </a:r>
                      <a:endParaRPr sz="1600"/>
                    </a:p>
                  </a:txBody>
                  <a:tcPr marL="0" marR="0" marT="0" marB="0" anchor="ctr" anchorCtr="0">
                    <a:lnL>
                      <a:noFill/>
                    </a:lnL>
                    <a:lnR>
                      <a:noFill/>
                    </a:lnR>
                    <a:lnT>
                      <a:noFill/>
                    </a:lnT>
                    <a:lnB>
                      <a:noFill/>
                    </a:lnB>
                    <a:noFill/>
                  </a:tcPr>
                </a:tc>
              </a:tr>
              <a:tr h="487680">
                <a:tc>
                  <a:txBody>
                    <a:bodyPr/>
                    <a:p>
                      <a:r>
                        <a:rPr sz="1600"/>
                        <a:t>job_description</a:t>
                      </a:r>
                      <a:endParaRPr sz="1600"/>
                    </a:p>
                  </a:txBody>
                  <a:tcPr marL="0" marR="0" marT="0" marB="0" anchor="ctr" anchorCtr="0">
                    <a:lnL>
                      <a:noFill/>
                    </a:lnL>
                    <a:lnR>
                      <a:noFill/>
                    </a:lnR>
                    <a:lnT>
                      <a:noFill/>
                    </a:lnT>
                    <a:lnB>
                      <a:noFill/>
                    </a:lnB>
                    <a:noFill/>
                  </a:tcPr>
                </a:tc>
                <a:tc>
                  <a:txBody>
                    <a:bodyPr/>
                    <a:p>
                      <a:r>
                        <a:rPr sz="1600"/>
                        <a:t>Detailed description of the job</a:t>
                      </a:r>
                      <a:endParaRPr sz="1600"/>
                    </a:p>
                  </a:txBody>
                  <a:tcPr marL="0" marR="0" marT="0" marB="0" anchor="ctr" anchorCtr="0">
                    <a:lnL>
                      <a:noFill/>
                    </a:lnL>
                    <a:lnR>
                      <a:noFill/>
                    </a:lnR>
                    <a:lnT>
                      <a:noFill/>
                    </a:lnT>
                    <a:lnB>
                      <a:noFill/>
                    </a:lnB>
                    <a:noFill/>
                  </a:tcPr>
                </a:tc>
              </a:tr>
              <a:tr h="487680">
                <a:tc>
                  <a:txBody>
                    <a:bodyPr/>
                    <a:p>
                      <a:r>
                        <a:rPr sz="1600"/>
                        <a:t>job_skill_set</a:t>
                      </a:r>
                      <a:endParaRPr sz="1600"/>
                    </a:p>
                  </a:txBody>
                  <a:tcPr marL="0" marR="0" marT="0" marB="0" anchor="ctr" anchorCtr="0">
                    <a:lnL>
                      <a:noFill/>
                    </a:lnL>
                    <a:lnR>
                      <a:noFill/>
                    </a:lnR>
                    <a:lnT>
                      <a:noFill/>
                    </a:lnT>
                    <a:lnB>
                      <a:noFill/>
                    </a:lnB>
                    <a:noFill/>
                  </a:tcPr>
                </a:tc>
                <a:tc>
                  <a:txBody>
                    <a:bodyPr/>
                    <a:p>
                      <a:r>
                        <a:rPr sz="1600"/>
                        <a:t>Skills associated with the job</a:t>
                      </a:r>
                      <a:endParaRPr sz="1600"/>
                    </a:p>
                  </a:txBody>
                  <a:tcPr marL="0" marR="0" marT="0" marB="0" anchor="ctr" anchorCtr="0">
                    <a:lnL>
                      <a:noFill/>
                    </a:lnL>
                    <a:lnR>
                      <a:noFill/>
                    </a:lnR>
                    <a:lnT>
                      <a:noFill/>
                    </a:lnT>
                    <a:lnB>
                      <a:noFill/>
                    </a:lnB>
                    <a:noFill/>
                  </a:tcPr>
                </a:tc>
              </a:tr>
            </a:tbl>
          </a:graphicData>
        </a:graphic>
      </p:graphicFrame>
      <p:sp>
        <p:nvSpPr>
          <p:cNvPr id="6" name="Text Box 5"/>
          <p:cNvSpPr txBox="1"/>
          <p:nvPr/>
        </p:nvSpPr>
        <p:spPr>
          <a:xfrm>
            <a:off x="3556000" y="1122045"/>
            <a:ext cx="5080000" cy="1524635"/>
          </a:xfrm>
          <a:prstGeom prst="rect">
            <a:avLst/>
          </a:prstGeom>
        </p:spPr>
        <p:txBody>
          <a:bodyPr>
            <a:noAutofit/>
          </a:bodyPr>
          <a:p>
            <a:pPr>
              <a:spcAft>
                <a:spcPct val="60000"/>
              </a:spcAft>
            </a:pPr>
            <a:r>
              <a:rPr sz="2400" b="1"/>
              <a:t>Dataset: Job Skill Set</a:t>
            </a:r>
            <a:endParaRPr sz="2400" b="1"/>
          </a:p>
          <a:p>
            <a:r>
              <a:rPr sz="2000"/>
              <a:t>Dataset Size:</a:t>
            </a:r>
            <a:endParaRPr sz="2000"/>
          </a:p>
          <a:p>
            <a:pPr>
              <a:buFont typeface="Arial" panose="020B0604020202020204"/>
              <a:buChar char="•"/>
            </a:pPr>
            <a:r>
              <a:rPr sz="2000"/>
              <a:t>Records: 1,167 </a:t>
            </a:r>
            <a:endParaRPr sz="2000"/>
          </a:p>
          <a:p>
            <a:pPr>
              <a:buFont typeface="Arial" panose="020B0604020202020204"/>
              <a:buChar char="•"/>
            </a:pPr>
            <a:r>
              <a:rPr sz="2000"/>
              <a:t>Columns: 5</a:t>
            </a:r>
            <a:endParaRPr sz="20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3565"/>
          </a:xfrm>
          <a:prstGeom prst="rect">
            <a:avLst/>
          </a:prstGeom>
          <a:noFill/>
        </p:spPr>
        <p:txBody>
          <a:bodyPr wrap="square" rtlCol="0">
            <a:spAutoFit/>
          </a:bodyPr>
          <a:lstStyle/>
          <a:p>
            <a:pPr algn="ctr"/>
            <a:r>
              <a:rPr lang="en-US" sz="3200" b="1" dirty="0">
                <a:solidFill>
                  <a:schemeClr val="bg1"/>
                </a:solidFill>
              </a:rPr>
              <a:t>EDA</a:t>
            </a:r>
            <a:endParaRPr lang="en-US" sz="3200" b="1" dirty="0">
              <a:solidFill>
                <a:schemeClr val="bg1"/>
              </a:solidFill>
            </a:endParaRPr>
          </a:p>
        </p:txBody>
      </p:sp>
      <p:pic>
        <p:nvPicPr>
          <p:cNvPr id="4" name="Picture 3"/>
          <p:cNvPicPr>
            <a:picLocks noChangeAspect="1"/>
          </p:cNvPicPr>
          <p:nvPr/>
        </p:nvPicPr>
        <p:blipFill>
          <a:blip r:embed="rId1"/>
          <a:stretch>
            <a:fillRect/>
          </a:stretch>
        </p:blipFill>
        <p:spPr>
          <a:xfrm>
            <a:off x="425450" y="1482090"/>
            <a:ext cx="6635115" cy="3994785"/>
          </a:xfrm>
          <a:prstGeom prst="rect">
            <a:avLst/>
          </a:prstGeom>
        </p:spPr>
      </p:pic>
      <p:pic>
        <p:nvPicPr>
          <p:cNvPr id="5" name="Picture 4"/>
          <p:cNvPicPr>
            <a:picLocks noChangeAspect="1"/>
          </p:cNvPicPr>
          <p:nvPr/>
        </p:nvPicPr>
        <p:blipFill>
          <a:blip r:embed="rId2"/>
          <a:stretch>
            <a:fillRect/>
          </a:stretch>
        </p:blipFill>
        <p:spPr>
          <a:xfrm>
            <a:off x="7166610" y="1562735"/>
            <a:ext cx="4792980" cy="39141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a:picLocks noChangeAspect="1"/>
          </p:cNvPicPr>
          <p:nvPr/>
        </p:nvPicPr>
        <p:blipFill>
          <a:blip r:embed="rId1"/>
          <a:stretch>
            <a:fillRect/>
          </a:stretch>
        </p:blipFill>
        <p:spPr>
          <a:xfrm>
            <a:off x="263525" y="1154430"/>
            <a:ext cx="6092825" cy="5394325"/>
          </a:xfrm>
          <a:prstGeom prst="rect">
            <a:avLst/>
          </a:prstGeom>
        </p:spPr>
      </p:pic>
      <p:pic>
        <p:nvPicPr>
          <p:cNvPr id="5" name="Picture 4"/>
          <p:cNvPicPr>
            <a:picLocks noChangeAspect="1"/>
          </p:cNvPicPr>
          <p:nvPr/>
        </p:nvPicPr>
        <p:blipFill>
          <a:blip r:embed="rId2"/>
          <a:stretch>
            <a:fillRect/>
          </a:stretch>
        </p:blipFill>
        <p:spPr>
          <a:xfrm>
            <a:off x="6468110" y="1155065"/>
            <a:ext cx="5444490" cy="5334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3565"/>
          </a:xfrm>
          <a:prstGeom prst="rect">
            <a:avLst/>
          </a:prstGeom>
          <a:noFill/>
        </p:spPr>
        <p:txBody>
          <a:bodyPr wrap="square" rtlCol="0">
            <a:spAutoFit/>
          </a:bodyPr>
          <a:lstStyle/>
          <a:p>
            <a:pPr algn="ctr"/>
            <a:r>
              <a:rPr lang="en-US" sz="3200" b="1" dirty="0">
                <a:solidFill>
                  <a:schemeClr val="bg1"/>
                </a:solidFill>
              </a:rPr>
              <a:t>Methodology</a:t>
            </a:r>
            <a:endParaRPr lang="en-US" sz="3200" b="1" dirty="0">
              <a:solidFill>
                <a:schemeClr val="bg1"/>
              </a:solidFill>
            </a:endParaRPr>
          </a:p>
        </p:txBody>
      </p:sp>
      <p:sp>
        <p:nvSpPr>
          <p:cNvPr id="4" name="Text Box 3"/>
          <p:cNvSpPr txBox="1"/>
          <p:nvPr/>
        </p:nvSpPr>
        <p:spPr>
          <a:xfrm>
            <a:off x="3048000" y="1532255"/>
            <a:ext cx="3249295" cy="4246245"/>
          </a:xfrm>
          <a:prstGeom prst="rect">
            <a:avLst/>
          </a:prstGeom>
          <a:noFill/>
        </p:spPr>
        <p:txBody>
          <a:bodyPr wrap="square" rtlCol="0" anchor="t">
            <a:spAutoFit/>
          </a:bodyPr>
          <a:p>
            <a:r>
              <a:rPr lang="en-US" altLang="en-US" b="1"/>
              <a:t>Candidate Profile</a:t>
            </a:r>
            <a:endParaRPr lang="en-US" altLang="en-US" b="1"/>
          </a:p>
          <a:p>
            <a:r>
              <a:rPr lang="en-US" altLang="en-US" b="1"/>
              <a:t>       ↓</a:t>
            </a:r>
            <a:endParaRPr lang="en-US" altLang="en-US" b="1"/>
          </a:p>
          <a:p>
            <a:r>
              <a:rPr lang="en-US" altLang="en-US" b="1"/>
              <a:t>Text Preprocessing</a:t>
            </a:r>
            <a:endParaRPr lang="en-US" altLang="en-US" b="1"/>
          </a:p>
          <a:p>
            <a:r>
              <a:rPr lang="en-US" altLang="en-US" b="1"/>
              <a:t>       ↓</a:t>
            </a:r>
            <a:endParaRPr lang="en-US" altLang="en-US" b="1"/>
          </a:p>
          <a:p>
            <a:r>
              <a:rPr lang="en-US" altLang="en-US" b="1"/>
              <a:t>TF-IDF Vectorization</a:t>
            </a:r>
            <a:endParaRPr lang="en-US" altLang="en-US" b="1"/>
          </a:p>
          <a:p>
            <a:r>
              <a:rPr lang="en-US" altLang="en-US" b="1"/>
              <a:t>       ↓</a:t>
            </a:r>
            <a:endParaRPr lang="en-US" altLang="en-US" b="1"/>
          </a:p>
          <a:p>
            <a:r>
              <a:rPr lang="en-US" altLang="en-US" b="1"/>
              <a:t>Vector Representation</a:t>
            </a:r>
            <a:endParaRPr lang="en-US" altLang="en-US" b="1"/>
          </a:p>
          <a:p>
            <a:r>
              <a:rPr lang="en-US" altLang="en-US" b="1"/>
              <a:t>       ↓</a:t>
            </a:r>
            <a:endParaRPr lang="en-US" altLang="en-US" b="1"/>
          </a:p>
          <a:p>
            <a:r>
              <a:rPr lang="en-US" altLang="en-US" b="1"/>
              <a:t>Cosine Similarity</a:t>
            </a:r>
            <a:endParaRPr lang="en-US" altLang="en-US" b="1"/>
          </a:p>
          <a:p>
            <a:r>
              <a:rPr lang="en-US" altLang="en-US" b="1"/>
              <a:t>       ↓</a:t>
            </a:r>
            <a:endParaRPr lang="en-US" altLang="en-US" b="1"/>
          </a:p>
          <a:p>
            <a:r>
              <a:rPr lang="en-US" altLang="en-US" b="1"/>
              <a:t>Similarity Score</a:t>
            </a:r>
            <a:endParaRPr lang="en-US" altLang="en-US" b="1"/>
          </a:p>
          <a:p>
            <a:r>
              <a:rPr lang="en-US" altLang="en-US" b="1"/>
              <a:t>       ↓</a:t>
            </a:r>
            <a:endParaRPr lang="en-US" altLang="en-US" b="1"/>
          </a:p>
          <a:p>
            <a:r>
              <a:rPr lang="en-US" altLang="en-US" b="1"/>
              <a:t>Ranking</a:t>
            </a:r>
            <a:endParaRPr lang="en-US" altLang="en-US" b="1"/>
          </a:p>
          <a:p>
            <a:r>
              <a:rPr lang="en-US" altLang="en-US" b="1"/>
              <a:t>       ↓</a:t>
            </a:r>
            <a:endParaRPr lang="en-US" altLang="en-US" b="1"/>
          </a:p>
          <a:p>
            <a:r>
              <a:rPr lang="en-US" altLang="en-US" b="1"/>
              <a:t>Recommended Jobs</a:t>
            </a:r>
            <a:endParaRPr lang="en-US" b="1"/>
          </a:p>
        </p:txBody>
      </p:sp>
      <p:sp>
        <p:nvSpPr>
          <p:cNvPr id="5" name="Text Box 4"/>
          <p:cNvSpPr txBox="1"/>
          <p:nvPr/>
        </p:nvSpPr>
        <p:spPr>
          <a:xfrm>
            <a:off x="6096000" y="1190625"/>
            <a:ext cx="5018405" cy="4752340"/>
          </a:xfrm>
          <a:prstGeom prst="rect">
            <a:avLst/>
          </a:prstGeom>
        </p:spPr>
        <p:txBody>
          <a:bodyPr>
            <a:noAutofit/>
          </a:bodyPr>
          <a:p>
            <a:r>
              <a:rPr b="1"/>
              <a:t>1. </a:t>
            </a:r>
            <a:r>
              <a:rPr b="1"/>
              <a:t>Candidate Profile</a:t>
            </a:r>
            <a:endParaRPr b="1"/>
          </a:p>
          <a:p>
            <a:r>
              <a:t> Candidate provides information such as skills, education and experience.</a:t>
            </a:r>
          </a:p>
          <a:p>
            <a:r>
              <a:rPr b="1"/>
              <a:t>2.</a:t>
            </a:r>
            <a:r>
              <a:rPr b="1"/>
              <a:t> Text Preprocessing</a:t>
            </a:r>
            <a:endParaRPr b="1"/>
          </a:p>
          <a:p>
            <a:r>
              <a:t> The textual data is cleaned and prepared for analysis.</a:t>
            </a:r>
          </a:p>
          <a:p>
            <a:r>
              <a:rPr b="1"/>
              <a:t>3. TF-IDF</a:t>
            </a:r>
            <a:endParaRPr b="1"/>
          </a:p>
          <a:p>
            <a:r>
              <a:t> Text is converted into numerical feature vectors.</a:t>
            </a:r>
          </a:p>
          <a:p>
            <a:r>
              <a:rPr b="1"/>
              <a:t>4. Cosine Similarity</a:t>
            </a:r>
            <a:endParaRPr b="1"/>
          </a:p>
          <a:p>
            <a:r>
              <a:t> Similarity between the candidate profile and each job is calculated.</a:t>
            </a:r>
          </a:p>
          <a:p>
            <a:r>
              <a:rPr b="1"/>
              <a:t>5. Ranking</a:t>
            </a:r>
            <a:endParaRPr b="1"/>
          </a:p>
          <a:p>
            <a:r>
              <a:t> Jobs are arranged from highest to lowest similarity score.</a:t>
            </a:r>
          </a:p>
          <a:p>
            <a:r>
              <a:rPr b="1"/>
              <a:t>6. Recommendation</a:t>
            </a:r>
            <a:endParaRPr b="1"/>
          </a:p>
          <a:p>
            <a:r>
              <a:t> The top-ranked jobs are presented as recommendations.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425" y="262255"/>
            <a:ext cx="4964430" cy="603885"/>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t>Results</a:t>
            </a:r>
            <a:endParaRPr lang="en-US" sz="2800" b="1"/>
          </a:p>
        </p:txBody>
      </p:sp>
      <p:graphicFrame>
        <p:nvGraphicFramePr>
          <p:cNvPr id="6" name="Table 5"/>
          <p:cNvGraphicFramePr/>
          <p:nvPr>
            <p:custDataLst>
              <p:tags r:id="rId1"/>
            </p:custDataLst>
          </p:nvPr>
        </p:nvGraphicFramePr>
        <p:xfrm>
          <a:off x="2720340" y="1452880"/>
          <a:ext cx="7383145" cy="4145915"/>
        </p:xfrm>
        <a:graphic>
          <a:graphicData uri="http://schemas.openxmlformats.org/drawingml/2006/table">
            <a:tbl>
              <a:tblPr/>
              <a:tblGrid>
                <a:gridCol w="1189355"/>
                <a:gridCol w="4462780"/>
                <a:gridCol w="1731010"/>
              </a:tblGrid>
              <a:tr h="605790">
                <a:tc>
                  <a:txBody>
                    <a:bodyPr/>
                    <a:p>
                      <a:pPr algn="l"/>
                      <a:r>
                        <a:rPr sz="2000" b="1"/>
                        <a:t>Rank</a:t>
                      </a:r>
                      <a:endParaRPr sz="2000" b="1"/>
                    </a:p>
                  </a:txBody>
                  <a:tcPr marL="0" marR="0" marT="0" marB="0" anchor="ctr" anchorCtr="0">
                    <a:lnL>
                      <a:noFill/>
                    </a:lnL>
                    <a:lnR>
                      <a:noFill/>
                    </a:lnR>
                    <a:lnT>
                      <a:noFill/>
                    </a:lnT>
                    <a:lnB>
                      <a:noFill/>
                    </a:lnB>
                    <a:noFill/>
                  </a:tcPr>
                </a:tc>
                <a:tc>
                  <a:txBody>
                    <a:bodyPr/>
                    <a:p>
                      <a:pPr algn="l"/>
                      <a:r>
                        <a:rPr sz="2000" b="1"/>
                        <a:t>Recommended Job</a:t>
                      </a:r>
                      <a:endParaRPr sz="2000" b="1"/>
                    </a:p>
                  </a:txBody>
                  <a:tcPr marL="0" marR="0" marT="0" marB="0" anchor="ctr" anchorCtr="0">
                    <a:lnL>
                      <a:noFill/>
                    </a:lnL>
                    <a:lnR>
                      <a:noFill/>
                    </a:lnR>
                    <a:lnT>
                      <a:noFill/>
                    </a:lnT>
                    <a:lnB>
                      <a:noFill/>
                    </a:lnB>
                    <a:noFill/>
                  </a:tcPr>
                </a:tc>
                <a:tc>
                  <a:txBody>
                    <a:bodyPr/>
                    <a:p>
                      <a:pPr algn="l"/>
                      <a:r>
                        <a:rPr sz="2000" b="1"/>
                        <a:t>Similarity Score</a:t>
                      </a:r>
                      <a:endParaRPr sz="2000" b="1"/>
                    </a:p>
                  </a:txBody>
                  <a:tcPr marL="0" marR="0" marT="0" marB="0" anchor="ctr" anchorCtr="0">
                    <a:lnL>
                      <a:noFill/>
                    </a:lnL>
                    <a:lnR>
                      <a:noFill/>
                    </a:lnR>
                    <a:lnT>
                      <a:noFill/>
                    </a:lnT>
                    <a:lnB>
                      <a:noFill/>
                    </a:lnB>
                    <a:noFill/>
                  </a:tcPr>
                </a:tc>
              </a:tr>
              <a:tr h="1179830">
                <a:tc>
                  <a:txBody>
                    <a:bodyPr/>
                    <a:p>
                      <a:pPr algn="l"/>
                      <a:r>
                        <a:rPr sz="2000"/>
                        <a:t>1</a:t>
                      </a:r>
                      <a:endParaRPr sz="2000"/>
                    </a:p>
                  </a:txBody>
                  <a:tcPr marL="0" marR="0" marT="0" marB="0" anchor="ctr" anchorCtr="0">
                    <a:lnL>
                      <a:noFill/>
                    </a:lnL>
                    <a:lnR>
                      <a:noFill/>
                    </a:lnR>
                    <a:lnT>
                      <a:noFill/>
                    </a:lnT>
                    <a:lnB>
                      <a:noFill/>
                    </a:lnB>
                    <a:noFill/>
                  </a:tcPr>
                </a:tc>
                <a:tc>
                  <a:txBody>
                    <a:bodyPr/>
                    <a:p>
                      <a:pPr algn="l"/>
                      <a:r>
                        <a:rPr sz="2000"/>
                        <a:t>VP / Client, Finance &amp; Strategy Data Scientist</a:t>
                      </a:r>
                      <a:endParaRPr sz="2000"/>
                    </a:p>
                  </a:txBody>
                  <a:tcPr marL="0" marR="0" marT="0" marB="0" anchor="ctr" anchorCtr="0">
                    <a:lnL>
                      <a:noFill/>
                    </a:lnL>
                    <a:lnR>
                      <a:noFill/>
                    </a:lnR>
                    <a:lnT>
                      <a:noFill/>
                    </a:lnT>
                    <a:lnB>
                      <a:noFill/>
                    </a:lnB>
                    <a:noFill/>
                  </a:tcPr>
                </a:tc>
                <a:tc>
                  <a:txBody>
                    <a:bodyPr/>
                    <a:p>
                      <a:pPr algn="l"/>
                      <a:r>
                        <a:rPr sz="2000"/>
                        <a:t>17.94%</a:t>
                      </a:r>
                      <a:endParaRPr sz="2000"/>
                    </a:p>
                  </a:txBody>
                  <a:tcPr marL="0" marR="0" marT="0" marB="0" anchor="ctr" anchorCtr="0">
                    <a:lnL>
                      <a:noFill/>
                    </a:lnL>
                    <a:lnR>
                      <a:noFill/>
                    </a:lnR>
                    <a:lnT>
                      <a:noFill/>
                    </a:lnT>
                    <a:lnB>
                      <a:noFill/>
                    </a:lnB>
                    <a:noFill/>
                  </a:tcPr>
                </a:tc>
              </a:tr>
              <a:tr h="590550">
                <a:tc>
                  <a:txBody>
                    <a:bodyPr/>
                    <a:p>
                      <a:pPr algn="l"/>
                      <a:r>
                        <a:rPr sz="2000"/>
                        <a:t>2</a:t>
                      </a:r>
                      <a:endParaRPr sz="2000"/>
                    </a:p>
                  </a:txBody>
                  <a:tcPr marL="0" marR="0" marT="0" marB="0" anchor="ctr" anchorCtr="0">
                    <a:lnL>
                      <a:noFill/>
                    </a:lnL>
                    <a:lnR>
                      <a:noFill/>
                    </a:lnR>
                    <a:lnT>
                      <a:noFill/>
                    </a:lnT>
                    <a:lnB>
                      <a:noFill/>
                    </a:lnB>
                    <a:noFill/>
                  </a:tcPr>
                </a:tc>
                <a:tc>
                  <a:txBody>
                    <a:bodyPr/>
                    <a:p>
                      <a:pPr algn="l"/>
                      <a:r>
                        <a:rPr sz="2000"/>
                        <a:t>Information Technology Specialist</a:t>
                      </a:r>
                      <a:endParaRPr sz="2000"/>
                    </a:p>
                  </a:txBody>
                  <a:tcPr marL="0" marR="0" marT="0" marB="0" anchor="ctr" anchorCtr="0">
                    <a:lnL>
                      <a:noFill/>
                    </a:lnL>
                    <a:lnR>
                      <a:noFill/>
                    </a:lnR>
                    <a:lnT>
                      <a:noFill/>
                    </a:lnT>
                    <a:lnB>
                      <a:noFill/>
                    </a:lnB>
                    <a:noFill/>
                  </a:tcPr>
                </a:tc>
                <a:tc>
                  <a:txBody>
                    <a:bodyPr/>
                    <a:p>
                      <a:pPr algn="l"/>
                      <a:r>
                        <a:rPr sz="2000"/>
                        <a:t>16.63%</a:t>
                      </a:r>
                      <a:endParaRPr sz="2000"/>
                    </a:p>
                  </a:txBody>
                  <a:tcPr marL="0" marR="0" marT="0" marB="0" anchor="ctr" anchorCtr="0">
                    <a:lnL>
                      <a:noFill/>
                    </a:lnL>
                    <a:lnR>
                      <a:noFill/>
                    </a:lnR>
                    <a:lnT>
                      <a:noFill/>
                    </a:lnT>
                    <a:lnB>
                      <a:noFill/>
                    </a:lnB>
                    <a:noFill/>
                  </a:tcPr>
                </a:tc>
              </a:tr>
              <a:tr h="589280">
                <a:tc>
                  <a:txBody>
                    <a:bodyPr/>
                    <a:p>
                      <a:pPr algn="l"/>
                      <a:r>
                        <a:rPr sz="2000"/>
                        <a:t>3</a:t>
                      </a:r>
                      <a:endParaRPr sz="2000"/>
                    </a:p>
                  </a:txBody>
                  <a:tcPr marL="0" marR="0" marT="0" marB="0" anchor="ctr" anchorCtr="0">
                    <a:lnL>
                      <a:noFill/>
                    </a:lnL>
                    <a:lnR>
                      <a:noFill/>
                    </a:lnR>
                    <a:lnT>
                      <a:noFill/>
                    </a:lnT>
                    <a:lnB>
                      <a:noFill/>
                    </a:lnB>
                    <a:noFill/>
                  </a:tcPr>
                </a:tc>
                <a:tc>
                  <a:txBody>
                    <a:bodyPr/>
                    <a:p>
                      <a:pPr algn="l"/>
                      <a:r>
                        <a:rPr sz="2000"/>
                        <a:t>Data Solutions Analyst II...</a:t>
                      </a:r>
                      <a:endParaRPr sz="2000"/>
                    </a:p>
                  </a:txBody>
                  <a:tcPr marL="0" marR="0" marT="0" marB="0" anchor="ctr" anchorCtr="0">
                    <a:lnL>
                      <a:noFill/>
                    </a:lnL>
                    <a:lnR>
                      <a:noFill/>
                    </a:lnR>
                    <a:lnT>
                      <a:noFill/>
                    </a:lnT>
                    <a:lnB>
                      <a:noFill/>
                    </a:lnB>
                    <a:noFill/>
                  </a:tcPr>
                </a:tc>
                <a:tc>
                  <a:txBody>
                    <a:bodyPr/>
                    <a:p>
                      <a:pPr algn="l"/>
                      <a:r>
                        <a:rPr sz="2000"/>
                        <a:t>15.02%</a:t>
                      </a:r>
                      <a:endParaRPr sz="2000"/>
                    </a:p>
                  </a:txBody>
                  <a:tcPr marL="0" marR="0" marT="0" marB="0" anchor="ctr" anchorCtr="0">
                    <a:lnL>
                      <a:noFill/>
                    </a:lnL>
                    <a:lnR>
                      <a:noFill/>
                    </a:lnR>
                    <a:lnT>
                      <a:noFill/>
                    </a:lnT>
                    <a:lnB>
                      <a:noFill/>
                    </a:lnB>
                    <a:noFill/>
                  </a:tcPr>
                </a:tc>
              </a:tr>
              <a:tr h="590550">
                <a:tc>
                  <a:txBody>
                    <a:bodyPr/>
                    <a:p>
                      <a:pPr algn="l"/>
                      <a:r>
                        <a:rPr sz="2000"/>
                        <a:t>4</a:t>
                      </a:r>
                      <a:endParaRPr sz="2000"/>
                    </a:p>
                  </a:txBody>
                  <a:tcPr marL="0" marR="0" marT="0" marB="0" anchor="ctr" anchorCtr="0">
                    <a:lnL>
                      <a:noFill/>
                    </a:lnL>
                    <a:lnR>
                      <a:noFill/>
                    </a:lnR>
                    <a:lnT>
                      <a:noFill/>
                    </a:lnT>
                    <a:lnB>
                      <a:noFill/>
                    </a:lnB>
                    <a:noFill/>
                  </a:tcPr>
                </a:tc>
                <a:tc>
                  <a:txBody>
                    <a:bodyPr/>
                    <a:p>
                      <a:pPr algn="l"/>
                      <a:r>
                        <a:rPr sz="2000"/>
                        <a:t>Information Technology Specialist</a:t>
                      </a:r>
                      <a:endParaRPr sz="2000"/>
                    </a:p>
                  </a:txBody>
                  <a:tcPr marL="0" marR="0" marT="0" marB="0" anchor="ctr" anchorCtr="0">
                    <a:lnL>
                      <a:noFill/>
                    </a:lnL>
                    <a:lnR>
                      <a:noFill/>
                    </a:lnR>
                    <a:lnT>
                      <a:noFill/>
                    </a:lnT>
                    <a:lnB>
                      <a:noFill/>
                    </a:lnB>
                    <a:noFill/>
                  </a:tcPr>
                </a:tc>
                <a:tc>
                  <a:txBody>
                    <a:bodyPr/>
                    <a:p>
                      <a:pPr algn="l"/>
                      <a:r>
                        <a:rPr sz="2000"/>
                        <a:t>14.71%</a:t>
                      </a:r>
                      <a:endParaRPr sz="2000"/>
                    </a:p>
                  </a:txBody>
                  <a:tcPr marL="0" marR="0" marT="0" marB="0" anchor="ctr" anchorCtr="0">
                    <a:lnL>
                      <a:noFill/>
                    </a:lnL>
                    <a:lnR>
                      <a:noFill/>
                    </a:lnR>
                    <a:lnT>
                      <a:noFill/>
                    </a:lnT>
                    <a:lnB>
                      <a:noFill/>
                    </a:lnB>
                    <a:noFill/>
                  </a:tcPr>
                </a:tc>
              </a:tr>
              <a:tr h="589915">
                <a:tc>
                  <a:txBody>
                    <a:bodyPr/>
                    <a:p>
                      <a:pPr algn="l"/>
                      <a:r>
                        <a:rPr sz="2000"/>
                        <a:t>5</a:t>
                      </a:r>
                      <a:endParaRPr sz="2000"/>
                    </a:p>
                  </a:txBody>
                  <a:tcPr marL="0" marR="0" marT="0" marB="0" anchor="ctr" anchorCtr="0">
                    <a:lnL>
                      <a:noFill/>
                    </a:lnL>
                    <a:lnR>
                      <a:noFill/>
                    </a:lnR>
                    <a:lnT>
                      <a:noFill/>
                    </a:lnT>
                    <a:lnB>
                      <a:noFill/>
                    </a:lnB>
                    <a:noFill/>
                  </a:tcPr>
                </a:tc>
                <a:tc>
                  <a:txBody>
                    <a:bodyPr/>
                    <a:p>
                      <a:pPr algn="l"/>
                      <a:r>
                        <a:rPr sz="2000"/>
                        <a:t>Lead Software Engineer - Finance</a:t>
                      </a:r>
                      <a:endParaRPr sz="2000"/>
                    </a:p>
                  </a:txBody>
                  <a:tcPr marL="0" marR="0" marT="0" marB="0" anchor="ctr" anchorCtr="0">
                    <a:lnL>
                      <a:noFill/>
                    </a:lnL>
                    <a:lnR>
                      <a:noFill/>
                    </a:lnR>
                    <a:lnT>
                      <a:noFill/>
                    </a:lnT>
                    <a:lnB>
                      <a:noFill/>
                    </a:lnB>
                    <a:noFill/>
                  </a:tcPr>
                </a:tc>
                <a:tc>
                  <a:txBody>
                    <a:bodyPr/>
                    <a:p>
                      <a:pPr algn="l"/>
                      <a:r>
                        <a:rPr sz="2000"/>
                        <a:t>14.59%</a:t>
                      </a:r>
                      <a:endParaRPr sz="2000"/>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87903"/>
            <a:ext cx="6871855" cy="584775"/>
          </a:xfrm>
          <a:prstGeom prst="rect">
            <a:avLst/>
          </a:prstGeom>
          <a:noFill/>
        </p:spPr>
        <p:txBody>
          <a:bodyPr wrap="square" rtlCol="0">
            <a:spAutoFit/>
          </a:bodyPr>
          <a:lstStyle/>
          <a:p>
            <a:pPr algn="ctr"/>
            <a:r>
              <a:rPr lang="en-US" sz="3200" b="1" dirty="0">
                <a:solidFill>
                  <a:schemeClr val="bg1"/>
                </a:solidFill>
              </a:rPr>
              <a:t>Conclusion</a:t>
            </a:r>
            <a:endParaRPr lang="en-US" sz="3200" b="1" dirty="0">
              <a:solidFill>
                <a:schemeClr val="bg1"/>
              </a:solidFill>
            </a:endParaRPr>
          </a:p>
        </p:txBody>
      </p:sp>
      <p:sp>
        <p:nvSpPr>
          <p:cNvPr id="4" name="Text Box 3"/>
          <p:cNvSpPr txBox="1"/>
          <p:nvPr/>
        </p:nvSpPr>
        <p:spPr>
          <a:xfrm>
            <a:off x="2436495" y="1507490"/>
            <a:ext cx="8659495" cy="3754755"/>
          </a:xfrm>
          <a:prstGeom prst="rect">
            <a:avLst/>
          </a:prstGeom>
          <a:noFill/>
        </p:spPr>
        <p:txBody>
          <a:bodyPr wrap="square" rtlCol="0">
            <a:noAutofit/>
          </a:bodyPr>
          <a:p>
            <a:r>
              <a:rPr lang="en-US" altLang="en-US" sz="2400"/>
              <a:t>The proposed Job Recommendation and Candidate Matching system demonstrates how Content-Based Filtering and Cosine Similarity can be used to identify suitable job opportunities for candidates. By comparing candidate profiles with job descriptions and calculating similarity scores, the system can rank jobs according to their relevance. This approach helps reduce the time and effort required for manual job searching and provides candidates with more relevant and personalized job recommendations.</a:t>
            </a:r>
            <a:endParaRPr lang="en-US" altLang="en-US" sz="24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rPr>
              <a:t> Future Scope</a:t>
            </a:r>
            <a:endParaRPr lang="en-US" sz="3200" b="1" dirty="0">
              <a:solidFill>
                <a:schemeClr val="bg1"/>
              </a:solidFill>
            </a:endParaRPr>
          </a:p>
        </p:txBody>
      </p:sp>
      <p:sp>
        <p:nvSpPr>
          <p:cNvPr id="2" name="Text Box 1"/>
          <p:cNvSpPr txBox="1"/>
          <p:nvPr/>
        </p:nvSpPr>
        <p:spPr>
          <a:xfrm>
            <a:off x="2433955" y="1487170"/>
            <a:ext cx="8571230" cy="2913380"/>
          </a:xfrm>
          <a:prstGeom prst="rect">
            <a:avLst/>
          </a:prstGeom>
        </p:spPr>
        <p:txBody>
          <a:bodyPr wrap="square">
            <a:noAutofit/>
          </a:bodyPr>
          <a:p>
            <a:r>
              <a:rPr sz="2400"/>
              <a:t>The system can be further improved by adding resume upload functionality to automatically extract candidate information and skills. Advanced NLP and semantic models can be used to improve the accuracy of job matching. Location and experience-based matching can also be incorporated to provide more personalized recommendations. In the future, a complete web-based interface can be developed to allow users to enter their profiles, search for jobs, and receive real-time recommendations. A skill-gap analysis feature could also be added to identify the skills a candidate needs to develop for a particular job.</a:t>
            </a:r>
            <a:endParaRPr sz="24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smtClean="0"/>
              <a:t>Thank you</a:t>
            </a:r>
            <a:endParaRPr lang="en-US" sz="3200" b="1" dirty="0"/>
          </a:p>
        </p:txBody>
      </p:sp>
    </p:spTree>
  </p:cSld>
  <p:clrMapOvr>
    <a:masterClrMapping/>
  </p:clrMapOvr>
</p:sld>
</file>

<file path=ppt/tags/tag1.xml><?xml version="1.0" encoding="utf-8"?>
<p:tagLst xmlns:p="http://schemas.openxmlformats.org/presentationml/2006/main">
  <p:tag name="KSO_WM_UNIT_INDEX" val="1"/>
  <p:tag name="KSO_WM_UNIT_TYPE" val="i"/>
  <p:tag name="KSO_WM_BEAUTIFY_FLAG" val="#wm#"/>
</p:tagLst>
</file>

<file path=ppt/tags/tag2.xml><?xml version="1.0" encoding="utf-8"?>
<p:tagLst xmlns:p="http://schemas.openxmlformats.org/presentationml/2006/main">
  <p:tag name="KSO_WM_UNIT_INDEX" val="1"/>
  <p:tag name="KSO_WM_UNIT_TYPE" val="a"/>
  <p:tag name="KSO_WM_BEAUTIFY_FLAG" val="#wm#"/>
</p:tagLst>
</file>

<file path=ppt/tags/tag3.xml><?xml version="1.0" encoding="utf-8"?>
<p:tagLst xmlns:p="http://schemas.openxmlformats.org/presentationml/2006/main">
  <p:tag name="TABLE_ENDDRAG_ORIGIN_RECT" val="454*230"/>
  <p:tag name="TABLE_ENDDRAG_RECT" val="265*134*454*230"/>
</p:tagLst>
</file>

<file path=ppt/tags/tag4.xml><?xml version="1.0" encoding="utf-8"?>
<p:tagLst xmlns:p="http://schemas.openxmlformats.org/presentationml/2006/main">
  <p:tag name="TABLE_ENDDRAG_ORIGIN_RECT" val="484*340"/>
  <p:tag name="TABLE_ENDDRAG_RECT" val="245*126*484*340"/>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4711</Words>
  <Application>WPS Presentation</Application>
  <PresentationFormat>Widescreen</PresentationFormat>
  <Paragraphs>149</Paragraphs>
  <Slides>13</Slides>
  <Notes>0</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13</vt:i4>
      </vt:variant>
    </vt:vector>
  </HeadingPairs>
  <TitlesOfParts>
    <vt:vector size="32" baseType="lpstr">
      <vt:lpstr>Arial</vt:lpstr>
      <vt:lpstr>SimSun</vt:lpstr>
      <vt:lpstr>Wingdings</vt:lpstr>
      <vt:lpstr>Times New Roman</vt:lpstr>
      <vt:lpstr>Gautami</vt:lpstr>
      <vt:lpstr>Segoe UI Symbol</vt:lpstr>
      <vt:lpstr>Calibri</vt:lpstr>
      <vt:lpstr>Microsoft YaHei</vt:lpstr>
      <vt:lpstr>Arial Unicode MS</vt:lpstr>
      <vt:lpstr>Calibri Light</vt:lpstr>
      <vt:lpstr>Calibri</vt:lpstr>
      <vt:lpstr>Times New Roman</vt:lpstr>
      <vt:lpstr>Arial</vt:lpstr>
      <vt:lpstr>Nunito Sans</vt:lpstr>
      <vt:lpstr>Nunito Sans ExtraBold</vt:lpstr>
      <vt:lpstr>Wingdings</vt:lpstr>
      <vt:lpstr>Charis SIL</vt:lpstr>
      <vt:lpstr>Crimson Text SemiBold</vt:lpstr>
      <vt:lpstr>Office Theme</vt:lpstr>
      <vt:lpstr>       Data Structures and Algorithms -3 (25CS2103E)  Title of the project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Hasini Reddy</cp:lastModifiedBy>
  <cp:revision>25</cp:revision>
  <dcterms:created xsi:type="dcterms:W3CDTF">2024-08-29T05:25:00Z</dcterms:created>
  <dcterms:modified xsi:type="dcterms:W3CDTF">2026-08-29T02:49:17Z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04BDE25F40A742E99739B79BA37BACEB_13</vt:lpwstr>
  </property>
  <property fmtid="{D5CDD505-2E9C-101B-9397-08002B2CF9AE}" pid="3" name="KSOProductBuildVer">
    <vt:lpwstr>1033-12.1.0.25830</vt:lpwstr>
  </property>
</Properties>
</file>